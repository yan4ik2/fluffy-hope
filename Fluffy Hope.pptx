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57" r:id="rId4"/>
    <p:sldId id="258" r:id="rId5"/>
    <p:sldId id="259" r:id="rId6"/>
    <p:sldId id="264" r:id="rId7"/>
    <p:sldId id="260" r:id="rId8"/>
    <p:sldId id="261" r:id="rId9"/>
    <p:sldId id="262" r:id="rId10"/>
    <p:sldId id="263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7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10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05E0A1-A07E-46F1-9A33-852C64BAF5B5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0933A1-A109-4B19-9458-4EE4A4BC22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084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933A1-A109-4B19-9458-4EE4A4BC22BB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4182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1D31-EEAE-478B-9B42-F5515CF8DC3B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E543-CE65-490E-862F-BE50979605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121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1D31-EEAE-478B-9B42-F5515CF8DC3B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E543-CE65-490E-862F-BE50979605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6733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1D31-EEAE-478B-9B42-F5515CF8DC3B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E543-CE65-490E-862F-BE50979605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4177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1D31-EEAE-478B-9B42-F5515CF8DC3B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E543-CE65-490E-862F-BE50979605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6250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1D31-EEAE-478B-9B42-F5515CF8DC3B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E543-CE65-490E-862F-BE50979605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955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1D31-EEAE-478B-9B42-F5515CF8DC3B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E543-CE65-490E-862F-BE50979605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0647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1D31-EEAE-478B-9B42-F5515CF8DC3B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E543-CE65-490E-862F-BE50979605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1200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1D31-EEAE-478B-9B42-F5515CF8DC3B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E543-CE65-490E-862F-BE50979605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6873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1D31-EEAE-478B-9B42-F5515CF8DC3B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E543-CE65-490E-862F-BE50979605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2292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1D31-EEAE-478B-9B42-F5515CF8DC3B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E543-CE65-490E-862F-BE50979605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9916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1D31-EEAE-478B-9B42-F5515CF8DC3B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E543-CE65-490E-862F-BE50979605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901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091D31-EEAE-478B-9B42-F5515CF8DC3B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8CE543-CE65-490E-862F-BE50979605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5497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4" Type="http://schemas.microsoft.com/office/2007/relationships/hdphoto" Target="../media/hdphoto3.wdp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25.png"/><Relationship Id="rId3" Type="http://schemas.openxmlformats.org/officeDocument/2006/relationships/image" Target="../media/image17.png"/><Relationship Id="rId7" Type="http://schemas.openxmlformats.org/officeDocument/2006/relationships/image" Target="../media/image3.png"/><Relationship Id="rId12" Type="http://schemas.openxmlformats.org/officeDocument/2006/relationships/image" Target="../media/image2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3.png"/><Relationship Id="rId5" Type="http://schemas.openxmlformats.org/officeDocument/2006/relationships/image" Target="../media/image19.png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7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7500" b="9463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771291" y="1795549"/>
            <a:ext cx="5420709" cy="542070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712" b="100000" l="1500" r="91500">
                        <a14:foregroundMark x1="77750" y1="53559" x2="80500" y2="52881"/>
                        <a14:foregroundMark x1="30000" y1="98983" x2="35250" y2="98983"/>
                        <a14:foregroundMark x1="58250" y1="72881" x2="53000" y2="97288"/>
                        <a14:foregroundMark x1="6000" y1="85085" x2="5000" y2="93559"/>
                        <a14:foregroundMark x1="52500" y1="98644" x2="52500" y2="98644"/>
                        <a14:foregroundMark x1="55250" y1="92881" x2="55250" y2="92881"/>
                        <a14:foregroundMark x1="57500" y1="85424" x2="57500" y2="85424"/>
                        <a14:foregroundMark x1="56750" y1="92881" x2="56750" y2="92881"/>
                        <a14:foregroundMark x1="58250" y1="76271" x2="58250" y2="76271"/>
                        <a14:foregroundMark x1="60500" y1="71525" x2="60500" y2="71525"/>
                        <a14:foregroundMark x1="61750" y1="76949" x2="61750" y2="76949"/>
                        <a14:foregroundMark x1="63250" y1="73220" x2="63250" y2="73220"/>
                        <a14:foregroundMark x1="77250" y1="59661" x2="77250" y2="59661"/>
                        <a14:foregroundMark x1="90500" y1="37627" x2="74250" y2="22712"/>
                        <a14:foregroundMark x1="59750" y1="6102" x2="59750" y2="6102"/>
                        <a14:foregroundMark x1="43750" y1="13220" x2="43750" y2="13220"/>
                        <a14:foregroundMark x1="65000" y1="68475" x2="65000" y2="68475"/>
                        <a14:backgroundMark x1="8000" y1="47458" x2="27500" y2="406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63115"/>
            <a:ext cx="5145607" cy="37948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73633" y="2401395"/>
            <a:ext cx="55696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 smtClean="0">
                <a:latin typeface="Montserrat SemiBold" panose="00000700000000000000" pitchFamily="2" charset="-52"/>
              </a:rPr>
              <a:t>Сайт для животных ищущих дом</a:t>
            </a:r>
            <a:endParaRPr lang="ru-RU" sz="4000" dirty="0">
              <a:latin typeface="Montserrat SemiBold" panose="00000700000000000000" pitchFamily="2" charset="-52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871" b="88710" l="0" r="97581">
                        <a14:foregroundMark x1="58871" y1="57258" x2="58871" y2="57258"/>
                        <a14:foregroundMark x1="33871" y1="71774" x2="33871" y2="71774"/>
                        <a14:foregroundMark x1="28226" y1="72581" x2="28226" y2="72581"/>
                        <a14:foregroundMark x1="29032" y1="72581" x2="29032" y2="72581"/>
                        <a14:foregroundMark x1="67742" y1="52419" x2="75000" y2="59677"/>
                        <a14:foregroundMark x1="64516" y1="72581" x2="70968" y2="70968"/>
                        <a14:foregroundMark x1="63710" y1="70968" x2="63710" y2="70968"/>
                        <a14:foregroundMark x1="63710" y1="70968" x2="63710" y2="70968"/>
                        <a14:foregroundMark x1="61290" y1="72581" x2="61290" y2="72581"/>
                        <a14:foregroundMark x1="64516" y1="71774" x2="64516" y2="71774"/>
                        <a14:foregroundMark x1="73387" y1="70161" x2="73387" y2="70161"/>
                        <a14:foregroundMark x1="74194" y1="72581" x2="74194" y2="72581"/>
                        <a14:foregroundMark x1="74194" y1="72581" x2="74194" y2="72581"/>
                        <a14:foregroundMark x1="71774" y1="72581" x2="71774" y2="725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38" y="0"/>
            <a:ext cx="982749" cy="982749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1360587" y="137431"/>
            <a:ext cx="100278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effectLst/>
                <a:latin typeface="Montserrat ExtraBold" panose="00000900000000000000" pitchFamily="2" charset="-52"/>
              </a:rPr>
              <a:t>Fluffy</a:t>
            </a:r>
            <a:br>
              <a:rPr lang="en-US" sz="2000" dirty="0" smtClean="0">
                <a:effectLst/>
                <a:latin typeface="Montserrat ExtraBold" panose="00000900000000000000" pitchFamily="2" charset="-52"/>
              </a:rPr>
            </a:br>
            <a:r>
              <a:rPr lang="en-US" sz="2000" dirty="0" smtClean="0">
                <a:effectLst/>
                <a:latin typeface="Montserrat ExtraBold" panose="00000900000000000000" pitchFamily="2" charset="-52"/>
              </a:rPr>
              <a:t>Hope</a:t>
            </a:r>
            <a:endParaRPr lang="ru-RU" sz="2000" dirty="0">
              <a:latin typeface="Montserrat ExtraBold" panose="000009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93614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838" y="1105853"/>
            <a:ext cx="3214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latin typeface="Montserrat SemiBold" panose="00000700000000000000" pitchFamily="2" charset="-52"/>
              </a:rPr>
              <a:t>О сайте</a:t>
            </a:r>
            <a:endParaRPr lang="ru-RU" sz="3600" dirty="0">
              <a:latin typeface="Montserrat SemiBold" panose="00000700000000000000" pitchFamily="2" charset="-52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85257" y="1931934"/>
            <a:ext cx="744496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 smtClean="0">
                <a:latin typeface="Montserrat SemiBold" panose="00000700000000000000" pitchFamily="2" charset="-52"/>
              </a:rPr>
              <a:t>Fluffy</a:t>
            </a:r>
            <a:r>
              <a:rPr lang="ru-RU" dirty="0" smtClean="0">
                <a:latin typeface="Montserrat SemiBold" panose="00000700000000000000" pitchFamily="2" charset="-52"/>
              </a:rPr>
              <a:t> </a:t>
            </a:r>
            <a:r>
              <a:rPr lang="ru-RU" dirty="0" err="1" smtClean="0">
                <a:latin typeface="Montserrat SemiBold" panose="00000700000000000000" pitchFamily="2" charset="-52"/>
              </a:rPr>
              <a:t>Hope</a:t>
            </a:r>
            <a:r>
              <a:rPr lang="ru-RU" dirty="0" smtClean="0">
                <a:latin typeface="Montserrat SemiBold" panose="00000700000000000000" pitchFamily="2" charset="-52"/>
              </a:rPr>
              <a:t> </a:t>
            </a:r>
            <a:r>
              <a:rPr lang="ru-RU" dirty="0" smtClean="0">
                <a:latin typeface="Montserrat" panose="00000500000000000000" pitchFamily="2" charset="-52"/>
              </a:rPr>
              <a:t>— это сообщество единомышленников, объединённых общей целью. Вместе мы можем изменить жизнь бездомных животных к лучшему. Присоединяйтесь к нам в этой важной миссии и помогите нам подарить надежду тем, кто в ней так нуждается!</a:t>
            </a:r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85257" y="360824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 smtClean="0">
                <a:latin typeface="Montserrat" panose="00000500000000000000" pitchFamily="2" charset="-52"/>
              </a:rPr>
              <a:t>Наша миссия </a:t>
            </a:r>
            <a:r>
              <a:rPr lang="ru-RU" dirty="0" smtClean="0">
                <a:latin typeface="Montserrat" panose="00000500000000000000" pitchFamily="2" charset="-52"/>
              </a:rPr>
              <a:t>— это организация, созданная с целью помощи бездомным животным.</a:t>
            </a:r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77838" y="425457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>
                <a:latin typeface="Montserrat" panose="00000500000000000000" pitchFamily="2" charset="-52"/>
              </a:rPr>
              <a:t>Мы верим, что каждое животное заслуживает шанса на новую жизнь, полную любви и заботы.</a:t>
            </a:r>
            <a:endParaRPr lang="ru-RU" dirty="0">
              <a:latin typeface="Montserrat" panose="00000500000000000000" pitchFamily="2" charset="-52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71" b="88710" l="0" r="97581">
                        <a14:foregroundMark x1="58871" y1="57258" x2="58871" y2="57258"/>
                        <a14:foregroundMark x1="33871" y1="71774" x2="33871" y2="71774"/>
                        <a14:foregroundMark x1="28226" y1="72581" x2="28226" y2="72581"/>
                        <a14:foregroundMark x1="29032" y1="72581" x2="29032" y2="72581"/>
                        <a14:foregroundMark x1="67742" y1="52419" x2="75000" y2="59677"/>
                        <a14:foregroundMark x1="64516" y1="72581" x2="70968" y2="70968"/>
                        <a14:foregroundMark x1="63710" y1="70968" x2="63710" y2="70968"/>
                        <a14:foregroundMark x1="63710" y1="70968" x2="63710" y2="70968"/>
                        <a14:foregroundMark x1="61290" y1="72581" x2="61290" y2="72581"/>
                        <a14:foregroundMark x1="64516" y1="71774" x2="64516" y2="71774"/>
                        <a14:foregroundMark x1="73387" y1="70161" x2="73387" y2="70161"/>
                        <a14:foregroundMark x1="74194" y1="72581" x2="74194" y2="72581"/>
                        <a14:foregroundMark x1="74194" y1="72581" x2="74194" y2="72581"/>
                        <a14:foregroundMark x1="71774" y1="72581" x2="71774" y2="725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38" y="0"/>
            <a:ext cx="982749" cy="982749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360587" y="137431"/>
            <a:ext cx="100278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effectLst/>
                <a:latin typeface="Montserrat ExtraBold" panose="00000900000000000000" pitchFamily="2" charset="-52"/>
              </a:rPr>
              <a:t>Fluffy</a:t>
            </a:r>
            <a:br>
              <a:rPr lang="en-US" sz="2000" dirty="0" smtClean="0">
                <a:effectLst/>
                <a:latin typeface="Montserrat ExtraBold" panose="00000900000000000000" pitchFamily="2" charset="-52"/>
              </a:rPr>
            </a:br>
            <a:r>
              <a:rPr lang="en-US" sz="2000" dirty="0" smtClean="0">
                <a:effectLst/>
                <a:latin typeface="Montserrat ExtraBold" panose="00000900000000000000" pitchFamily="2" charset="-52"/>
              </a:rPr>
              <a:t>Hope</a:t>
            </a:r>
            <a:endParaRPr lang="ru-RU" sz="2000" dirty="0">
              <a:latin typeface="Montserrat ExtraBold" panose="00000900000000000000" pitchFamily="2" charset="-52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4"/>
          <a:srcRect r="15551"/>
          <a:stretch/>
        </p:blipFill>
        <p:spPr>
          <a:xfrm>
            <a:off x="7918764" y="0"/>
            <a:ext cx="43451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006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2448" y="1120031"/>
            <a:ext cx="6740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>
                <a:latin typeface="Montserrat" panose="00000500000000000000" pitchFamily="2" charset="-52"/>
              </a:rPr>
              <a:t>Почему именно </a:t>
            </a:r>
            <a:r>
              <a:rPr lang="en-US" sz="3200" b="1" dirty="0" smtClean="0">
                <a:latin typeface="Montserrat" panose="00000500000000000000" pitchFamily="2" charset="-52"/>
              </a:rPr>
              <a:t>“Fluffy Hope”</a:t>
            </a:r>
            <a:endParaRPr lang="ru-RU" sz="3200" b="1" dirty="0">
              <a:latin typeface="Montserrat" panose="00000500000000000000" pitchFamily="2" charset="-52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71" b="88710" l="0" r="97581">
                        <a14:foregroundMark x1="58871" y1="57258" x2="58871" y2="57258"/>
                        <a14:foregroundMark x1="33871" y1="71774" x2="33871" y2="71774"/>
                        <a14:foregroundMark x1="28226" y1="72581" x2="28226" y2="72581"/>
                        <a14:foregroundMark x1="29032" y1="72581" x2="29032" y2="72581"/>
                        <a14:foregroundMark x1="67742" y1="52419" x2="75000" y2="59677"/>
                        <a14:foregroundMark x1="64516" y1="72581" x2="70968" y2="70968"/>
                        <a14:foregroundMark x1="63710" y1="70968" x2="63710" y2="70968"/>
                        <a14:foregroundMark x1="63710" y1="70968" x2="63710" y2="70968"/>
                        <a14:foregroundMark x1="61290" y1="72581" x2="61290" y2="72581"/>
                        <a14:foregroundMark x1="64516" y1="71774" x2="64516" y2="71774"/>
                        <a14:foregroundMark x1="73387" y1="70161" x2="73387" y2="70161"/>
                        <a14:foregroundMark x1="74194" y1="72581" x2="74194" y2="72581"/>
                        <a14:foregroundMark x1="74194" y1="72581" x2="74194" y2="72581"/>
                        <a14:foregroundMark x1="71774" y1="72581" x2="71774" y2="725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38" y="0"/>
            <a:ext cx="982749" cy="98274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360587" y="137431"/>
            <a:ext cx="100278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effectLst/>
                <a:latin typeface="Montserrat ExtraBold" panose="00000900000000000000" pitchFamily="2" charset="-52"/>
              </a:rPr>
              <a:t>Fluffy</a:t>
            </a:r>
            <a:br>
              <a:rPr lang="en-US" sz="2000" dirty="0" smtClean="0">
                <a:effectLst/>
                <a:latin typeface="Montserrat ExtraBold" panose="00000900000000000000" pitchFamily="2" charset="-52"/>
              </a:rPr>
            </a:br>
            <a:r>
              <a:rPr lang="en-US" sz="2000" dirty="0" smtClean="0">
                <a:effectLst/>
                <a:latin typeface="Montserrat ExtraBold" panose="00000900000000000000" pitchFamily="2" charset="-52"/>
              </a:rPr>
              <a:t>Hope</a:t>
            </a:r>
            <a:endParaRPr lang="ru-RU" sz="2000" dirty="0">
              <a:latin typeface="Montserrat ExtraBold" panose="00000900000000000000" pitchFamily="2" charset="-52"/>
            </a:endParaRPr>
          </a:p>
        </p:txBody>
      </p:sp>
      <p:grpSp>
        <p:nvGrpSpPr>
          <p:cNvPr id="10" name="Группа 9"/>
          <p:cNvGrpSpPr/>
          <p:nvPr/>
        </p:nvGrpSpPr>
        <p:grpSpPr>
          <a:xfrm>
            <a:off x="1740828" y="1779573"/>
            <a:ext cx="6096000" cy="4118480"/>
            <a:chOff x="1360587" y="2127227"/>
            <a:chExt cx="6096000" cy="4118480"/>
          </a:xfrm>
        </p:grpSpPr>
        <p:sp>
          <p:nvSpPr>
            <p:cNvPr id="6" name="Прямоугольник 5"/>
            <p:cNvSpPr/>
            <p:nvPr/>
          </p:nvSpPr>
          <p:spPr>
            <a:xfrm>
              <a:off x="1360587" y="2127227"/>
              <a:ext cx="6096000" cy="13849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ru-RU" sz="3000" b="1" i="0" dirty="0" smtClean="0">
                  <a:effectLst/>
                  <a:latin typeface="Montserrat" panose="00000500000000000000" pitchFamily="2" charset="-52"/>
                </a:rPr>
                <a:t>Уникальная платформа</a:t>
              </a:r>
              <a:endParaRPr lang="ru-RU" b="0" i="0" dirty="0" smtClean="0">
                <a:effectLst/>
                <a:latin typeface="Montserrat" panose="00000500000000000000" pitchFamily="2" charset="-52"/>
              </a:endParaRPr>
            </a:p>
            <a:p>
              <a:r>
                <a:rPr lang="ru-RU" b="0" i="0" dirty="0" smtClean="0">
                  <a:effectLst/>
                  <a:latin typeface="Montserrat" panose="00000500000000000000" pitchFamily="2" charset="-52"/>
                </a:rPr>
                <a:t>Мы предлагаем простую и удобную навигацию для пользователей, чтобы они могли легко находить нужную информацию и животных.</a:t>
              </a:r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1360587" y="3512222"/>
              <a:ext cx="6096000" cy="13849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ru-RU" sz="3000" b="1" i="0" dirty="0" smtClean="0">
                  <a:effectLst/>
                  <a:latin typeface="Montserrat" panose="00000500000000000000" pitchFamily="2" charset="-52"/>
                </a:rPr>
                <a:t>Поддержка на всех этапах</a:t>
              </a:r>
              <a:r>
                <a:rPr lang="ru-RU" sz="3000" b="0" i="0" dirty="0" smtClean="0">
                  <a:effectLst/>
                  <a:latin typeface="Montserrat" panose="00000500000000000000" pitchFamily="2" charset="-52"/>
                </a:rPr>
                <a:t> </a:t>
              </a:r>
              <a:r>
                <a:rPr lang="ru-RU" b="0" i="0" dirty="0" smtClean="0">
                  <a:effectLst/>
                  <a:latin typeface="Montserrat" panose="00000500000000000000" pitchFamily="2" charset="-52"/>
                </a:rPr>
                <a:t>Мы не только помогаем с усыновлением, но и поддерживаем новых владельцев после того, как они взяли питомца домой.</a:t>
              </a:r>
            </a:p>
          </p:txBody>
        </p:sp>
        <p:sp>
          <p:nvSpPr>
            <p:cNvPr id="9" name="Прямоугольник 8"/>
            <p:cNvSpPr/>
            <p:nvPr/>
          </p:nvSpPr>
          <p:spPr>
            <a:xfrm>
              <a:off x="1360587" y="4860712"/>
              <a:ext cx="6096000" cy="13849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ru-RU" sz="3000" b="1" i="0" dirty="0" smtClean="0">
                  <a:effectLst/>
                  <a:latin typeface="Montserrat" panose="00000500000000000000" pitchFamily="2" charset="-52"/>
                </a:rPr>
                <a:t>Глобальная сеть</a:t>
              </a:r>
              <a:r>
                <a:rPr lang="ru-RU" sz="3000" b="0" i="0" dirty="0" smtClean="0">
                  <a:effectLst/>
                  <a:latin typeface="Montserrat" panose="00000500000000000000" pitchFamily="2" charset="-52"/>
                </a:rPr>
                <a:t> </a:t>
              </a:r>
            </a:p>
            <a:p>
              <a:r>
                <a:rPr lang="ru-RU" b="0" i="0" dirty="0" smtClean="0">
                  <a:effectLst/>
                  <a:latin typeface="Montserrat" panose="00000500000000000000" pitchFamily="2" charset="-52"/>
                </a:rPr>
                <a:t>Сотрудничаем с приютами и волонтерами по всему миру, чтобы расширять наши возможности помощи.</a:t>
              </a:r>
              <a:endParaRPr lang="ru-RU" b="0" i="0" dirty="0">
                <a:effectLst/>
                <a:latin typeface="Montserrat" panose="00000500000000000000" pitchFamily="2" charset="-52"/>
              </a:endParaRPr>
            </a:p>
          </p:txBody>
        </p:sp>
      </p:grpSp>
      <p:sp>
        <p:nvSpPr>
          <p:cNvPr id="11" name="Скругленный прямоугольник 10"/>
          <p:cNvSpPr/>
          <p:nvPr/>
        </p:nvSpPr>
        <p:spPr>
          <a:xfrm>
            <a:off x="617402" y="2078176"/>
            <a:ext cx="831984" cy="787790"/>
          </a:xfrm>
          <a:prstGeom prst="roundRect">
            <a:avLst/>
          </a:prstGeom>
          <a:solidFill>
            <a:srgbClr val="FFD7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12925" y="3349858"/>
            <a:ext cx="831984" cy="787790"/>
          </a:xfrm>
          <a:prstGeom prst="roundRect">
            <a:avLst/>
          </a:prstGeom>
          <a:solidFill>
            <a:srgbClr val="FFD7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612925" y="4803405"/>
            <a:ext cx="831984" cy="787790"/>
          </a:xfrm>
          <a:prstGeom prst="roundRect">
            <a:avLst/>
          </a:prstGeom>
          <a:solidFill>
            <a:srgbClr val="FFD7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517" y="4908436"/>
            <a:ext cx="577727" cy="577727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170" y="3419213"/>
            <a:ext cx="577727" cy="577727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578" y="2167269"/>
            <a:ext cx="609604" cy="60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689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05974" y="1663352"/>
            <a:ext cx="10510556" cy="876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dirty="0">
                <a:latin typeface="Montserrat" panose="00000500000000000000" pitchFamily="2" charset="-52"/>
              </a:rPr>
              <a:t>Проблема бездомных животных остается одной из самых острых социальных и экологических задач современности.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23093" y="1072934"/>
            <a:ext cx="35814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>
                <a:latin typeface="Montserrat SemiBold" panose="00000700000000000000" pitchFamily="2" charset="-52"/>
              </a:rPr>
              <a:t>Актуальность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71" b="88710" l="0" r="97581">
                        <a14:foregroundMark x1="58871" y1="57258" x2="58871" y2="57258"/>
                        <a14:foregroundMark x1="33871" y1="71774" x2="33871" y2="71774"/>
                        <a14:foregroundMark x1="28226" y1="72581" x2="28226" y2="72581"/>
                        <a14:foregroundMark x1="29032" y1="72581" x2="29032" y2="72581"/>
                        <a14:foregroundMark x1="67742" y1="52419" x2="75000" y2="59677"/>
                        <a14:foregroundMark x1="64516" y1="72581" x2="70968" y2="70968"/>
                        <a14:foregroundMark x1="63710" y1="70968" x2="63710" y2="70968"/>
                        <a14:foregroundMark x1="63710" y1="70968" x2="63710" y2="70968"/>
                        <a14:foregroundMark x1="61290" y1="72581" x2="61290" y2="72581"/>
                        <a14:foregroundMark x1="64516" y1="71774" x2="64516" y2="71774"/>
                        <a14:foregroundMark x1="73387" y1="70161" x2="73387" y2="70161"/>
                        <a14:foregroundMark x1="74194" y1="72581" x2="74194" y2="72581"/>
                        <a14:foregroundMark x1="74194" y1="72581" x2="74194" y2="72581"/>
                        <a14:foregroundMark x1="71774" y1="72581" x2="71774" y2="725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38" y="0"/>
            <a:ext cx="982749" cy="98274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360587" y="137431"/>
            <a:ext cx="100278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effectLst/>
                <a:latin typeface="Montserrat ExtraBold" panose="00000900000000000000" pitchFamily="2" charset="-52"/>
              </a:rPr>
              <a:t>Fluffy</a:t>
            </a:r>
            <a:br>
              <a:rPr lang="en-US" sz="2000" dirty="0" smtClean="0">
                <a:effectLst/>
                <a:latin typeface="Montserrat ExtraBold" panose="00000900000000000000" pitchFamily="2" charset="-52"/>
              </a:rPr>
            </a:br>
            <a:r>
              <a:rPr lang="en-US" sz="2000" dirty="0" smtClean="0">
                <a:effectLst/>
                <a:latin typeface="Montserrat ExtraBold" panose="00000900000000000000" pitchFamily="2" charset="-52"/>
              </a:rPr>
              <a:t>Hope</a:t>
            </a:r>
            <a:endParaRPr lang="ru-RU" sz="2000" dirty="0">
              <a:latin typeface="Montserrat ExtraBold" panose="00000900000000000000" pitchFamily="2" charset="-52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05974" y="3361124"/>
            <a:ext cx="1051055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b="0" i="0" dirty="0" smtClean="0">
                <a:solidFill>
                  <a:srgbClr val="404040"/>
                </a:solidFill>
                <a:effectLst/>
                <a:latin typeface="Montserrat" panose="00000500000000000000" pitchFamily="2" charset="-52"/>
              </a:rPr>
              <a:t>Сайт, направленный на защиту бездомных животных, может стать мощным инструментом для системного решения проблемы. </a:t>
            </a:r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3093" y="2807126"/>
            <a:ext cx="43911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ah-RU" sz="3000" dirty="0" smtClean="0">
                <a:latin typeface="Montserrat SemiBold" panose="00000700000000000000" pitchFamily="2" charset="-52"/>
              </a:rPr>
              <a:t>Решения проблемы </a:t>
            </a:r>
            <a:endParaRPr lang="ru-RU" sz="3000" dirty="0">
              <a:latin typeface="Montserrat SemiBold" panose="00000700000000000000" pitchFamily="2" charset="-52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23093" y="4424444"/>
            <a:ext cx="426751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000" dirty="0">
                <a:latin typeface="Montserrat SemiBold" panose="00000700000000000000" pitchFamily="2" charset="-52"/>
              </a:rPr>
              <a:t>Целевая аудитория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05975" y="5075395"/>
            <a:ext cx="6079232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Montserrat" panose="00000500000000000000" pitchFamily="2" charset="-52"/>
              </a:rPr>
              <a:t>Потенциальные волонтеры.‍ </a:t>
            </a:r>
            <a:endParaRPr lang="en-US" dirty="0">
              <a:latin typeface="Montserrat" panose="00000500000000000000" pitchFamily="2" charset="-5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Montserrat" panose="00000500000000000000" pitchFamily="2" charset="-52"/>
              </a:rPr>
              <a:t>Люди, желающие усыновить животное.‍ </a:t>
            </a:r>
            <a:endParaRPr lang="en-US" dirty="0">
              <a:latin typeface="Montserrat" panose="00000500000000000000" pitchFamily="2" charset="-5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Montserrat" panose="00000500000000000000" pitchFamily="2" charset="-52"/>
              </a:rPr>
              <a:t>Благотворительные организации и спонсоры.‍ </a:t>
            </a:r>
            <a:endParaRPr lang="en-US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098189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871" b="88710" l="0" r="97581">
                        <a14:foregroundMark x1="58871" y1="57258" x2="58871" y2="57258"/>
                        <a14:foregroundMark x1="33871" y1="71774" x2="33871" y2="71774"/>
                        <a14:foregroundMark x1="28226" y1="72581" x2="28226" y2="72581"/>
                        <a14:foregroundMark x1="29032" y1="72581" x2="29032" y2="72581"/>
                        <a14:foregroundMark x1="67742" y1="52419" x2="75000" y2="59677"/>
                        <a14:foregroundMark x1="64516" y1="72581" x2="70968" y2="70968"/>
                        <a14:foregroundMark x1="63710" y1="70968" x2="63710" y2="70968"/>
                        <a14:foregroundMark x1="63710" y1="70968" x2="63710" y2="70968"/>
                        <a14:foregroundMark x1="61290" y1="72581" x2="61290" y2="72581"/>
                        <a14:foregroundMark x1="64516" y1="71774" x2="64516" y2="71774"/>
                        <a14:foregroundMark x1="73387" y1="70161" x2="73387" y2="70161"/>
                        <a14:foregroundMark x1="74194" y1="72581" x2="74194" y2="72581"/>
                        <a14:foregroundMark x1="74194" y1="72581" x2="74194" y2="72581"/>
                        <a14:foregroundMark x1="71774" y1="72581" x2="71774" y2="725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38" y="0"/>
            <a:ext cx="982749" cy="982749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360587" y="137431"/>
            <a:ext cx="100278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effectLst/>
                <a:latin typeface="Montserrat ExtraBold" panose="00000900000000000000" pitchFamily="2" charset="-52"/>
              </a:rPr>
              <a:t>Fluffy</a:t>
            </a:r>
            <a:br>
              <a:rPr lang="en-US" sz="2000" dirty="0" smtClean="0">
                <a:effectLst/>
                <a:latin typeface="Montserrat ExtraBold" panose="00000900000000000000" pitchFamily="2" charset="-52"/>
              </a:rPr>
            </a:br>
            <a:r>
              <a:rPr lang="en-US" sz="2000" dirty="0" smtClean="0">
                <a:effectLst/>
                <a:latin typeface="Montserrat ExtraBold" panose="00000900000000000000" pitchFamily="2" charset="-52"/>
              </a:rPr>
              <a:t>Hope</a:t>
            </a:r>
            <a:endParaRPr lang="ru-RU" sz="2000" dirty="0">
              <a:latin typeface="Montserrat ExtraBold" panose="00000900000000000000" pitchFamily="2" charset="-5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0381" y="1037029"/>
            <a:ext cx="3552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ah-RU" sz="3600" dirty="0" smtClean="0">
                <a:latin typeface="Montserrat SemiBold" panose="00000700000000000000" pitchFamily="2" charset="-52"/>
              </a:rPr>
              <a:t>Конкуренция</a:t>
            </a:r>
            <a:endParaRPr lang="ru-RU" sz="3600" dirty="0">
              <a:latin typeface="Montserrat SemiBold" panose="00000700000000000000" pitchFamily="2" charset="-52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40381" y="1683360"/>
            <a:ext cx="53527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0" dirty="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nest"/>
              </a:rPr>
              <a:t>Важные моменты для конкуренции в России</a:t>
            </a:r>
            <a:endParaRPr lang="ru-RU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40381" y="2106972"/>
            <a:ext cx="1022598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3000" b="1" i="0" dirty="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 SemiBold" panose="00000700000000000000" pitchFamily="2" charset="-52"/>
              </a:rPr>
              <a:t> Локализация</a:t>
            </a:r>
            <a:r>
              <a:rPr lang="ru-RU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 SemiBold" panose="00000700000000000000" pitchFamily="2" charset="-52"/>
              </a:rPr>
              <a:t> </a:t>
            </a:r>
          </a:p>
          <a:p>
            <a:r>
              <a:rPr lang="ru-RU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" panose="00000500000000000000" pitchFamily="2" charset="-52"/>
              </a:rPr>
              <a:t>Успех в России часто зависит от хорошей локализации сайта и контента на русском языке.</a:t>
            </a:r>
          </a:p>
          <a:p>
            <a:pPr>
              <a:buFont typeface="Arial" panose="020B0604020202020204" pitchFamily="34" charset="0"/>
              <a:buChar char="•"/>
            </a:pPr>
            <a:endParaRPr lang="ru-RU" b="0" i="0" dirty="0" smtClean="0">
              <a:solidFill>
                <a:schemeClr val="tx1">
                  <a:lumMod val="95000"/>
                  <a:lumOff val="5000"/>
                </a:schemeClr>
              </a:solidFill>
              <a:effectLst/>
              <a:latin typeface="Montserrat" panose="00000500000000000000" pitchFamily="2" charset="-5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3000" b="1" i="0" dirty="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 SemiBold" panose="00000700000000000000" pitchFamily="2" charset="-52"/>
              </a:rPr>
              <a:t> Взаимодействие с местными приютами</a:t>
            </a:r>
          </a:p>
          <a:p>
            <a:r>
              <a:rPr lang="ru-RU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" panose="00000500000000000000" pitchFamily="2" charset="-52"/>
              </a:rPr>
              <a:t>Сотрудничество с местными приютами и группами помощи животным может быть очень важным для привлечения животных на платформу и увеличения охвата.</a:t>
            </a:r>
          </a:p>
          <a:p>
            <a:pPr>
              <a:buFont typeface="Arial" panose="020B0604020202020204" pitchFamily="34" charset="0"/>
              <a:buChar char="•"/>
            </a:pPr>
            <a:endParaRPr lang="ru-RU" b="0" i="0" dirty="0" smtClean="0">
              <a:solidFill>
                <a:schemeClr val="tx1">
                  <a:lumMod val="95000"/>
                  <a:lumOff val="5000"/>
                </a:schemeClr>
              </a:solidFill>
              <a:effectLst/>
              <a:latin typeface="Montserrat" panose="00000500000000000000" pitchFamily="2" charset="-5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3000" b="1" i="0" dirty="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 SemiBold" panose="00000700000000000000" pitchFamily="2" charset="-52"/>
              </a:rPr>
              <a:t> Маркетинг в социальных сетях</a:t>
            </a:r>
          </a:p>
          <a:p>
            <a:r>
              <a:rPr lang="ru-RU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" panose="00000500000000000000" pitchFamily="2" charset="-52"/>
              </a:rPr>
              <a:t>Активное использование </a:t>
            </a:r>
            <a:r>
              <a:rPr lang="ru-RU" b="0" i="0" dirty="0" err="1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" panose="00000500000000000000" pitchFamily="2" charset="-52"/>
              </a:rPr>
              <a:t>ВКонтакте</a:t>
            </a:r>
            <a:r>
              <a:rPr lang="ru-RU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" panose="00000500000000000000" pitchFamily="2" charset="-52"/>
              </a:rPr>
              <a:t> и других российских социальных сетей для продвижения "</a:t>
            </a:r>
            <a:r>
              <a:rPr lang="ru-RU" b="0" i="0" dirty="0" err="1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" panose="00000500000000000000" pitchFamily="2" charset="-52"/>
              </a:rPr>
              <a:t>Fluffy</a:t>
            </a:r>
            <a:r>
              <a:rPr lang="ru-RU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" panose="00000500000000000000" pitchFamily="2" charset="-52"/>
              </a:rPr>
              <a:t> </a:t>
            </a:r>
            <a:r>
              <a:rPr lang="ru-RU" b="0" i="0" dirty="0" err="1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" panose="00000500000000000000" pitchFamily="2" charset="-52"/>
              </a:rPr>
              <a:t>Hope</a:t>
            </a:r>
            <a:r>
              <a:rPr lang="ru-RU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" panose="00000500000000000000" pitchFamily="2" charset="-52"/>
              </a:rPr>
              <a:t>" может помочь привлечь больше пользователей.</a:t>
            </a:r>
          </a:p>
        </p:txBody>
      </p:sp>
    </p:spTree>
    <p:extLst>
      <p:ext uri="{BB962C8B-B14F-4D97-AF65-F5344CB8AC3E}">
        <p14:creationId xmlns:p14="http://schemas.microsoft.com/office/powerpoint/2010/main" val="3073354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51057" y="1059934"/>
            <a:ext cx="51331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i="0" dirty="0" smtClean="0">
                <a:effectLst/>
                <a:latin typeface="Montserrat SemiBold" panose="00000700000000000000" pitchFamily="2" charset="-52"/>
              </a:rPr>
              <a:t>Как можно помочь?</a:t>
            </a:r>
            <a:endParaRPr lang="ru-RU" sz="3600" b="1" i="0" dirty="0">
              <a:effectLst/>
              <a:latin typeface="Montserrat SemiBold" panose="00000700000000000000" pitchFamily="2" charset="-52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01299" y="1782233"/>
            <a:ext cx="708308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000" i="0" dirty="0" smtClean="0">
                <a:effectLst/>
                <a:latin typeface="Montserrat SemiBold" panose="00000700000000000000" pitchFamily="2" charset="-52"/>
              </a:rPr>
              <a:t>Принять участие в </a:t>
            </a:r>
            <a:r>
              <a:rPr lang="ru-RU" sz="3000" i="0" dirty="0" err="1" smtClean="0">
                <a:effectLst/>
                <a:latin typeface="Montserrat SemiBold" panose="00000700000000000000" pitchFamily="2" charset="-52"/>
              </a:rPr>
              <a:t>волонтерстве</a:t>
            </a:r>
            <a:endParaRPr lang="ru-RU" sz="3000" i="0" dirty="0" smtClean="0">
              <a:effectLst/>
              <a:latin typeface="Montserrat SemiBold" panose="00000700000000000000" pitchFamily="2" charset="-52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01299" y="3250599"/>
            <a:ext cx="816412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000" i="0" dirty="0" smtClean="0">
                <a:effectLst/>
                <a:latin typeface="Montserrat SemiBold" panose="00000700000000000000" pitchFamily="2" charset="-52"/>
              </a:rPr>
              <a:t>Пожертвовать средства на поддержку приютов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77838" y="4893731"/>
            <a:ext cx="767590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000" i="0" dirty="0" smtClean="0">
                <a:effectLst/>
                <a:latin typeface="Montserrat SemiBold" panose="00000700000000000000" pitchFamily="2" charset="-52"/>
              </a:rPr>
              <a:t>Поделиться информацией о сайте в социальных сетях</a:t>
            </a:r>
            <a:endParaRPr lang="ru-RU" sz="3000" i="0" dirty="0">
              <a:effectLst/>
              <a:latin typeface="Montserrat SemiBold" panose="00000700000000000000" pitchFamily="2" charset="-52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2578" y="0"/>
            <a:ext cx="3419422" cy="68580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545086" y="2410640"/>
            <a:ext cx="778611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i="0" dirty="0" smtClean="0">
                <a:effectLst/>
                <a:latin typeface="Montserrat" panose="00000500000000000000" pitchFamily="2" charset="-52"/>
              </a:rPr>
              <a:t>Присоединяйтесь к нашей команде волонтеров и помогайте в приютах, организуйте мероприятия или помогайте с административной работой.</a:t>
            </a:r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651057" y="4247400"/>
            <a:ext cx="69393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i="0" dirty="0" smtClean="0">
                <a:effectLst/>
                <a:latin typeface="Montserrat" panose="00000500000000000000" pitchFamily="2" charset="-52"/>
              </a:rPr>
              <a:t>Каждое пожертвование помогает нам обеспечить еду, медицинское обслуживание и укрытие для животных.</a:t>
            </a:r>
            <a:endParaRPr lang="ru-RU" dirty="0">
              <a:latin typeface="Montserrat" panose="00000500000000000000" pitchFamily="2" charset="-52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871" b="88710" l="0" r="97581">
                        <a14:foregroundMark x1="58871" y1="57258" x2="58871" y2="57258"/>
                        <a14:foregroundMark x1="33871" y1="71774" x2="33871" y2="71774"/>
                        <a14:foregroundMark x1="28226" y1="72581" x2="28226" y2="72581"/>
                        <a14:foregroundMark x1="29032" y1="72581" x2="29032" y2="72581"/>
                        <a14:foregroundMark x1="67742" y1="52419" x2="75000" y2="59677"/>
                        <a14:foregroundMark x1="64516" y1="72581" x2="70968" y2="70968"/>
                        <a14:foregroundMark x1="63710" y1="70968" x2="63710" y2="70968"/>
                        <a14:foregroundMark x1="63710" y1="70968" x2="63710" y2="70968"/>
                        <a14:foregroundMark x1="61290" y1="72581" x2="61290" y2="72581"/>
                        <a14:foregroundMark x1="64516" y1="71774" x2="64516" y2="71774"/>
                        <a14:foregroundMark x1="73387" y1="70161" x2="73387" y2="70161"/>
                        <a14:foregroundMark x1="74194" y1="72581" x2="74194" y2="72581"/>
                        <a14:foregroundMark x1="74194" y1="72581" x2="74194" y2="72581"/>
                        <a14:foregroundMark x1="71774" y1="72581" x2="71774" y2="725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38" y="0"/>
            <a:ext cx="982749" cy="982749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360587" y="137431"/>
            <a:ext cx="100278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effectLst/>
                <a:latin typeface="Montserrat ExtraBold" panose="00000900000000000000" pitchFamily="2" charset="-52"/>
              </a:rPr>
              <a:t>Fluffy</a:t>
            </a:r>
            <a:br>
              <a:rPr lang="en-US" sz="2000" dirty="0" smtClean="0">
                <a:effectLst/>
                <a:latin typeface="Montserrat ExtraBold" panose="00000900000000000000" pitchFamily="2" charset="-52"/>
              </a:rPr>
            </a:br>
            <a:r>
              <a:rPr lang="en-US" sz="2000" dirty="0" smtClean="0">
                <a:effectLst/>
                <a:latin typeface="Montserrat ExtraBold" panose="00000900000000000000" pitchFamily="2" charset="-52"/>
              </a:rPr>
              <a:t>Hope</a:t>
            </a:r>
            <a:endParaRPr lang="ru-RU" sz="2000" dirty="0">
              <a:latin typeface="Montserrat ExtraBold" panose="000009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413597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4670" y="3737350"/>
            <a:ext cx="2523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ah-RU" dirty="0" smtClean="0"/>
              <a:t>Рис </a:t>
            </a:r>
            <a:r>
              <a:rPr lang="ru-RU" dirty="0" smtClean="0"/>
              <a:t>1. </a:t>
            </a:r>
          </a:p>
          <a:p>
            <a:pPr algn="ctr"/>
            <a:r>
              <a:rPr lang="ru-RU" dirty="0" smtClean="0"/>
              <a:t>БД. Потерянных и найденных животных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7689" y="6088307"/>
            <a:ext cx="1938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ah-RU" dirty="0" smtClean="0"/>
              <a:t>Рис 2. </a:t>
            </a:r>
          </a:p>
          <a:p>
            <a:pPr algn="ctr"/>
            <a:r>
              <a:rPr lang="sah-RU" dirty="0" smtClean="0"/>
              <a:t>Стать волонтером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71" b="88710" l="0" r="97581">
                        <a14:foregroundMark x1="58871" y1="57258" x2="58871" y2="57258"/>
                        <a14:foregroundMark x1="33871" y1="71774" x2="33871" y2="71774"/>
                        <a14:foregroundMark x1="28226" y1="72581" x2="28226" y2="72581"/>
                        <a14:foregroundMark x1="29032" y1="72581" x2="29032" y2="72581"/>
                        <a14:foregroundMark x1="67742" y1="52419" x2="75000" y2="59677"/>
                        <a14:foregroundMark x1="64516" y1="72581" x2="70968" y2="70968"/>
                        <a14:foregroundMark x1="63710" y1="70968" x2="63710" y2="70968"/>
                        <a14:foregroundMark x1="63710" y1="70968" x2="63710" y2="70968"/>
                        <a14:foregroundMark x1="61290" y1="72581" x2="61290" y2="72581"/>
                        <a14:foregroundMark x1="64516" y1="71774" x2="64516" y2="71774"/>
                        <a14:foregroundMark x1="73387" y1="70161" x2="73387" y2="70161"/>
                        <a14:foregroundMark x1="74194" y1="72581" x2="74194" y2="72581"/>
                        <a14:foregroundMark x1="74194" y1="72581" x2="74194" y2="72581"/>
                        <a14:foregroundMark x1="71774" y1="72581" x2="71774" y2="725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38" y="0"/>
            <a:ext cx="982749" cy="982749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360587" y="137431"/>
            <a:ext cx="100278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effectLst/>
                <a:latin typeface="Montserrat ExtraBold" panose="00000900000000000000" pitchFamily="2" charset="-52"/>
              </a:rPr>
              <a:t>Fluffy</a:t>
            </a:r>
            <a:br>
              <a:rPr lang="en-US" sz="2000" dirty="0" smtClean="0">
                <a:effectLst/>
                <a:latin typeface="Montserrat ExtraBold" panose="00000900000000000000" pitchFamily="2" charset="-52"/>
              </a:rPr>
            </a:br>
            <a:r>
              <a:rPr lang="en-US" sz="2000" dirty="0" smtClean="0">
                <a:effectLst/>
                <a:latin typeface="Montserrat ExtraBold" panose="00000900000000000000" pitchFamily="2" charset="-52"/>
              </a:rPr>
              <a:t>Hope</a:t>
            </a:r>
            <a:endParaRPr lang="ru-RU" sz="2000" dirty="0">
              <a:latin typeface="Montserrat ExtraBold" panose="00000900000000000000" pitchFamily="2" charset="-52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508" y="3317877"/>
            <a:ext cx="5085337" cy="2731414"/>
          </a:xfrm>
          <a:prstGeom prst="rect">
            <a:avLst/>
          </a:prstGeom>
          <a:ln w="38100" cap="sq">
            <a:solidFill>
              <a:srgbClr val="FFD79D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575" y="1170347"/>
            <a:ext cx="4771278" cy="256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909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71" b="88710" l="0" r="97581">
                        <a14:foregroundMark x1="58871" y1="57258" x2="58871" y2="57258"/>
                        <a14:foregroundMark x1="33871" y1="71774" x2="33871" y2="71774"/>
                        <a14:foregroundMark x1="28226" y1="72581" x2="28226" y2="72581"/>
                        <a14:foregroundMark x1="29032" y1="72581" x2="29032" y2="72581"/>
                        <a14:foregroundMark x1="67742" y1="52419" x2="75000" y2="59677"/>
                        <a14:foregroundMark x1="64516" y1="72581" x2="70968" y2="70968"/>
                        <a14:foregroundMark x1="63710" y1="70968" x2="63710" y2="70968"/>
                        <a14:foregroundMark x1="63710" y1="70968" x2="63710" y2="70968"/>
                        <a14:foregroundMark x1="61290" y1="72581" x2="61290" y2="72581"/>
                        <a14:foregroundMark x1="64516" y1="71774" x2="64516" y2="71774"/>
                        <a14:foregroundMark x1="73387" y1="70161" x2="73387" y2="70161"/>
                        <a14:foregroundMark x1="74194" y1="72581" x2="74194" y2="72581"/>
                        <a14:foregroundMark x1="74194" y1="72581" x2="74194" y2="72581"/>
                        <a14:foregroundMark x1="71774" y1="72581" x2="71774" y2="725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38" y="0"/>
            <a:ext cx="982749" cy="982749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360587" y="137431"/>
            <a:ext cx="100278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effectLst/>
                <a:latin typeface="Montserrat ExtraBold" panose="00000900000000000000" pitchFamily="2" charset="-52"/>
              </a:rPr>
              <a:t>Fluffy</a:t>
            </a:r>
            <a:br>
              <a:rPr lang="en-US" sz="2000" dirty="0" smtClean="0">
                <a:effectLst/>
                <a:latin typeface="Montserrat ExtraBold" panose="00000900000000000000" pitchFamily="2" charset="-52"/>
              </a:rPr>
            </a:br>
            <a:r>
              <a:rPr lang="en-US" sz="2000" dirty="0" smtClean="0">
                <a:effectLst/>
                <a:latin typeface="Montserrat ExtraBold" panose="00000900000000000000" pitchFamily="2" charset="-52"/>
              </a:rPr>
              <a:t>Hope</a:t>
            </a:r>
            <a:endParaRPr lang="ru-RU" sz="2000" dirty="0">
              <a:latin typeface="Montserrat ExtraBold" panose="00000900000000000000" pitchFamily="2" charset="-52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212" y="3438287"/>
            <a:ext cx="4338797" cy="23452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36936" y="5783520"/>
            <a:ext cx="1866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Рис 3.</a:t>
            </a:r>
          </a:p>
          <a:p>
            <a:pPr algn="ctr"/>
            <a:r>
              <a:rPr lang="ru-RU" dirty="0" smtClean="0"/>
              <a:t>Пожертвование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7321" y="845317"/>
            <a:ext cx="4120802" cy="22692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54271" y="3115121"/>
            <a:ext cx="2084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Рис 4.</a:t>
            </a:r>
          </a:p>
          <a:p>
            <a:pPr algn="ctr"/>
            <a:r>
              <a:rPr lang="ru-RU" dirty="0" smtClean="0"/>
              <a:t>Помощь животным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824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2114" y="1466323"/>
            <a:ext cx="5034164" cy="2761798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871" b="88710" l="0" r="97581">
                        <a14:foregroundMark x1="58871" y1="57258" x2="58871" y2="57258"/>
                        <a14:foregroundMark x1="33871" y1="71774" x2="33871" y2="71774"/>
                        <a14:foregroundMark x1="28226" y1="72581" x2="28226" y2="72581"/>
                        <a14:foregroundMark x1="29032" y1="72581" x2="29032" y2="72581"/>
                        <a14:foregroundMark x1="67742" y1="52419" x2="75000" y2="59677"/>
                        <a14:foregroundMark x1="64516" y1="72581" x2="70968" y2="70968"/>
                        <a14:foregroundMark x1="63710" y1="70968" x2="63710" y2="70968"/>
                        <a14:foregroundMark x1="63710" y1="70968" x2="63710" y2="70968"/>
                        <a14:foregroundMark x1="61290" y1="72581" x2="61290" y2="72581"/>
                        <a14:foregroundMark x1="64516" y1="71774" x2="64516" y2="71774"/>
                        <a14:foregroundMark x1="73387" y1="70161" x2="73387" y2="70161"/>
                        <a14:foregroundMark x1="74194" y1="72581" x2="74194" y2="72581"/>
                        <a14:foregroundMark x1="74194" y1="72581" x2="74194" y2="72581"/>
                        <a14:foregroundMark x1="71774" y1="72581" x2="71774" y2="725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38" y="0"/>
            <a:ext cx="982749" cy="982749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360587" y="137431"/>
            <a:ext cx="100278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effectLst/>
                <a:latin typeface="Montserrat ExtraBold" panose="00000900000000000000" pitchFamily="2" charset="-52"/>
              </a:rPr>
              <a:t>Fluffy</a:t>
            </a:r>
            <a:br>
              <a:rPr lang="en-US" sz="2000" dirty="0" smtClean="0">
                <a:effectLst/>
                <a:latin typeface="Montserrat ExtraBold" panose="00000900000000000000" pitchFamily="2" charset="-52"/>
              </a:rPr>
            </a:br>
            <a:r>
              <a:rPr lang="en-US" sz="2000" dirty="0" smtClean="0">
                <a:effectLst/>
                <a:latin typeface="Montserrat ExtraBold" panose="00000900000000000000" pitchFamily="2" charset="-52"/>
              </a:rPr>
              <a:t>Hope</a:t>
            </a:r>
            <a:endParaRPr lang="ru-RU" sz="2000" dirty="0">
              <a:latin typeface="Montserrat ExtraBold" panose="00000900000000000000" pitchFamily="2" charset="-52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286" y="1646797"/>
            <a:ext cx="4914007" cy="2577295"/>
          </a:xfrm>
          <a:prstGeom prst="rect">
            <a:avLst/>
          </a:prstGeom>
          <a:ln w="38100" cap="sq">
            <a:solidFill>
              <a:srgbClr val="FFD79D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2665" y="4005818"/>
            <a:ext cx="5237578" cy="27139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89168" y="840328"/>
            <a:ext cx="21045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dirty="0" smtClean="0">
                <a:latin typeface="Montserrat SemiBold" panose="00000700000000000000" pitchFamily="2" charset="-52"/>
              </a:rPr>
              <a:t>Наш сайт</a:t>
            </a:r>
            <a:endParaRPr lang="ru-RU" sz="3000" dirty="0">
              <a:latin typeface="Montserrat SemiBold" panose="000007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3514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Скругленный прямоугольник 15"/>
          <p:cNvSpPr/>
          <p:nvPr/>
        </p:nvSpPr>
        <p:spPr>
          <a:xfrm>
            <a:off x="2734883" y="1345413"/>
            <a:ext cx="2093758" cy="3811509"/>
          </a:xfrm>
          <a:prstGeom prst="roundRect">
            <a:avLst/>
          </a:prstGeom>
          <a:solidFill>
            <a:srgbClr val="FFD7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5091928" y="1345413"/>
            <a:ext cx="2093758" cy="3811509"/>
          </a:xfrm>
          <a:prstGeom prst="roundRect">
            <a:avLst/>
          </a:prstGeom>
          <a:solidFill>
            <a:srgbClr val="FFD7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7388045" y="1345413"/>
            <a:ext cx="2093758" cy="3811509"/>
          </a:xfrm>
          <a:prstGeom prst="roundRect">
            <a:avLst/>
          </a:prstGeom>
          <a:solidFill>
            <a:srgbClr val="FFD7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9792207" y="1345413"/>
            <a:ext cx="2093758" cy="3811509"/>
          </a:xfrm>
          <a:prstGeom prst="roundRect">
            <a:avLst/>
          </a:prstGeom>
          <a:solidFill>
            <a:srgbClr val="FFD7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377838" y="1345414"/>
            <a:ext cx="2093758" cy="3811509"/>
          </a:xfrm>
          <a:prstGeom prst="roundRect">
            <a:avLst/>
          </a:prstGeom>
          <a:solidFill>
            <a:srgbClr val="FFD7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4047306" y="544573"/>
            <a:ext cx="46140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 smtClean="0">
                <a:latin typeface="Montserrat SemiBold" panose="00000700000000000000" pitchFamily="2" charset="-52"/>
              </a:rPr>
              <a:t>Наша команда</a:t>
            </a:r>
            <a:endParaRPr lang="ru-RU" sz="4400" dirty="0">
              <a:latin typeface="Montserrat SemiBold" panose="00000700000000000000" pitchFamily="2" charset="-52"/>
            </a:endParaRPr>
          </a:p>
        </p:txBody>
      </p:sp>
      <p:sp>
        <p:nvSpPr>
          <p:cNvPr id="3" name="Овал 2"/>
          <p:cNvSpPr/>
          <p:nvPr/>
        </p:nvSpPr>
        <p:spPr>
          <a:xfrm>
            <a:off x="9904548" y="1503125"/>
            <a:ext cx="1691641" cy="1508397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/>
          <p:cNvSpPr/>
          <p:nvPr/>
        </p:nvSpPr>
        <p:spPr>
          <a:xfrm>
            <a:off x="7575368" y="1502223"/>
            <a:ext cx="1691641" cy="150839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2917008" y="1502224"/>
            <a:ext cx="1691641" cy="1508397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5246188" y="1502224"/>
            <a:ext cx="1691641" cy="1508397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587828" y="1502225"/>
            <a:ext cx="1691641" cy="1508397"/>
          </a:xfrm>
          <a:prstGeom prst="ellipse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9966777" y="3125597"/>
            <a:ext cx="17446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ah-RU" dirty="0" smtClean="0">
                <a:latin typeface="Montserrat" panose="00000500000000000000" pitchFamily="2" charset="-52"/>
              </a:rPr>
              <a:t>Климовсикй Кирилл</a:t>
            </a:r>
          </a:p>
          <a:p>
            <a:pPr algn="ctr"/>
            <a:endParaRPr lang="sah-RU" dirty="0">
              <a:latin typeface="Montserrat" panose="00000500000000000000" pitchFamily="2" charset="-52"/>
            </a:endParaRPr>
          </a:p>
          <a:p>
            <a:pPr algn="ctr"/>
            <a:r>
              <a:rPr lang="sah-RU" dirty="0" smtClean="0">
                <a:latin typeface="Montserrat" panose="00000500000000000000" pitchFamily="2" charset="-52"/>
              </a:rPr>
              <a:t>Программист</a:t>
            </a:r>
            <a:r>
              <a:rPr lang="en-US" dirty="0" smtClean="0">
                <a:latin typeface="Montserrat" panose="00000500000000000000" pitchFamily="2" charset="-52"/>
              </a:rPr>
              <a:t> C#</a:t>
            </a:r>
            <a:r>
              <a:rPr lang="sah-RU" dirty="0" smtClean="0">
                <a:latin typeface="Montserrat" panose="00000500000000000000" pitchFamily="2" charset="-52"/>
              </a:rPr>
              <a:t>, эксперт по документам</a:t>
            </a:r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37597" y="3125597"/>
            <a:ext cx="15671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ah-RU" dirty="0" smtClean="0">
                <a:latin typeface="Montserrat" panose="00000500000000000000" pitchFamily="2" charset="-52"/>
              </a:rPr>
              <a:t>Николаев </a:t>
            </a:r>
          </a:p>
          <a:p>
            <a:pPr algn="ctr"/>
            <a:r>
              <a:rPr lang="sah-RU" dirty="0" smtClean="0">
                <a:latin typeface="Montserrat" panose="00000500000000000000" pitchFamily="2" charset="-52"/>
              </a:rPr>
              <a:t>Ян</a:t>
            </a:r>
          </a:p>
          <a:p>
            <a:pPr algn="ctr"/>
            <a:endParaRPr lang="sah-RU" dirty="0">
              <a:latin typeface="Montserrat" panose="00000500000000000000" pitchFamily="2" charset="-52"/>
            </a:endParaRPr>
          </a:p>
          <a:p>
            <a:pPr algn="ctr"/>
            <a:r>
              <a:rPr lang="sah-RU" dirty="0" smtClean="0">
                <a:latin typeface="Montserrat" panose="00000500000000000000" pitchFamily="2" charset="-52"/>
              </a:rPr>
              <a:t>Дизайер, программист</a:t>
            </a:r>
            <a:r>
              <a:rPr lang="en-US" dirty="0" smtClean="0">
                <a:latin typeface="Montserrat" panose="00000500000000000000" pitchFamily="2" charset="-52"/>
              </a:rPr>
              <a:t> C#, C++</a:t>
            </a:r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08417" y="3125597"/>
            <a:ext cx="15671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ah-RU" dirty="0" smtClean="0">
                <a:latin typeface="Montserrat" panose="00000500000000000000" pitchFamily="2" charset="-52"/>
              </a:rPr>
              <a:t>Монастырева Валерия</a:t>
            </a:r>
          </a:p>
          <a:p>
            <a:pPr algn="ctr"/>
            <a:endParaRPr lang="sah-RU" dirty="0">
              <a:latin typeface="Montserrat" panose="00000500000000000000" pitchFamily="2" charset="-52"/>
            </a:endParaRPr>
          </a:p>
          <a:p>
            <a:pPr algn="ctr"/>
            <a:r>
              <a:rPr lang="sah-RU" dirty="0" smtClean="0">
                <a:latin typeface="Montserrat" panose="00000500000000000000" pitchFamily="2" charset="-52"/>
              </a:rPr>
              <a:t>Менеджер</a:t>
            </a:r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39698" y="3125597"/>
            <a:ext cx="18462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ah-RU" dirty="0" smtClean="0">
                <a:latin typeface="Montserrat" panose="00000500000000000000" pitchFamily="2" charset="-52"/>
              </a:rPr>
              <a:t>Винокуров Алексей</a:t>
            </a:r>
          </a:p>
          <a:p>
            <a:pPr algn="ctr"/>
            <a:endParaRPr lang="en-US" dirty="0" smtClean="0">
              <a:latin typeface="Montserrat" panose="00000500000000000000" pitchFamily="2" charset="-52"/>
            </a:endParaRPr>
          </a:p>
          <a:p>
            <a:pPr algn="ctr"/>
            <a:r>
              <a:rPr lang="sah-RU" smtClean="0">
                <a:latin typeface="Montserrat" panose="00000500000000000000" pitchFamily="2" charset="-52"/>
              </a:rPr>
              <a:t>Программист</a:t>
            </a:r>
            <a:r>
              <a:rPr lang="en-US" smtClean="0">
                <a:latin typeface="Montserrat" panose="00000500000000000000" pitchFamily="2" charset="-52"/>
              </a:rPr>
              <a:t> C#</a:t>
            </a:r>
            <a:r>
              <a:rPr lang="sah-RU" smtClean="0">
                <a:latin typeface="Montserrat" panose="00000500000000000000" pitchFamily="2" charset="-52"/>
              </a:rPr>
              <a:t>, </a:t>
            </a:r>
            <a:r>
              <a:rPr lang="ru-RU" smtClean="0">
                <a:latin typeface="Montserrat" panose="00000500000000000000" pitchFamily="2" charset="-52"/>
              </a:rPr>
              <a:t>С++, </a:t>
            </a:r>
            <a:r>
              <a:rPr lang="en-US" smtClean="0">
                <a:latin typeface="Montserrat" panose="00000500000000000000" pitchFamily="2" charset="-52"/>
              </a:rPr>
              <a:t>HTML</a:t>
            </a:r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0057" y="3125597"/>
            <a:ext cx="15671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ah-RU" dirty="0" smtClean="0">
                <a:latin typeface="Montserrat" panose="00000500000000000000" pitchFamily="2" charset="-52"/>
              </a:rPr>
              <a:t>Шестаков Денис</a:t>
            </a:r>
          </a:p>
          <a:p>
            <a:pPr algn="ctr"/>
            <a:endParaRPr lang="sah-RU" dirty="0">
              <a:latin typeface="Montserrat" panose="00000500000000000000" pitchFamily="2" charset="-52"/>
            </a:endParaRPr>
          </a:p>
          <a:p>
            <a:pPr algn="ctr"/>
            <a:r>
              <a:rPr lang="sah-RU" dirty="0" smtClean="0">
                <a:latin typeface="Montserrat" panose="00000500000000000000" pitchFamily="2" charset="-52"/>
              </a:rPr>
              <a:t>Программист С</a:t>
            </a:r>
            <a:r>
              <a:rPr lang="en-US" dirty="0" smtClean="0">
                <a:latin typeface="Montserrat" panose="00000500000000000000" pitchFamily="2" charset="-52"/>
              </a:rPr>
              <a:t>#</a:t>
            </a:r>
            <a:endParaRPr lang="ru-RU" dirty="0">
              <a:latin typeface="Montserrat" panose="00000500000000000000" pitchFamily="2" charset="-52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871" b="88710" l="0" r="97581">
                        <a14:foregroundMark x1="58871" y1="57258" x2="58871" y2="57258"/>
                        <a14:foregroundMark x1="33871" y1="71774" x2="33871" y2="71774"/>
                        <a14:foregroundMark x1="28226" y1="72581" x2="28226" y2="72581"/>
                        <a14:foregroundMark x1="29032" y1="72581" x2="29032" y2="72581"/>
                        <a14:foregroundMark x1="67742" y1="52419" x2="75000" y2="59677"/>
                        <a14:foregroundMark x1="64516" y1="72581" x2="70968" y2="70968"/>
                        <a14:foregroundMark x1="63710" y1="70968" x2="63710" y2="70968"/>
                        <a14:foregroundMark x1="63710" y1="70968" x2="63710" y2="70968"/>
                        <a14:foregroundMark x1="61290" y1="72581" x2="61290" y2="72581"/>
                        <a14:foregroundMark x1="64516" y1="71774" x2="64516" y2="71774"/>
                        <a14:foregroundMark x1="73387" y1="70161" x2="73387" y2="70161"/>
                        <a14:foregroundMark x1="74194" y1="72581" x2="74194" y2="72581"/>
                        <a14:foregroundMark x1="74194" y1="72581" x2="74194" y2="72581"/>
                        <a14:foregroundMark x1="71774" y1="72581" x2="71774" y2="725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38" y="0"/>
            <a:ext cx="982749" cy="982749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1360587" y="137431"/>
            <a:ext cx="100278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effectLst/>
                <a:latin typeface="Montserrat ExtraBold" panose="00000900000000000000" pitchFamily="2" charset="-52"/>
              </a:rPr>
              <a:t>Fluffy</a:t>
            </a:r>
            <a:br>
              <a:rPr lang="en-US" sz="2000" dirty="0" smtClean="0">
                <a:effectLst/>
                <a:latin typeface="Montserrat ExtraBold" panose="00000900000000000000" pitchFamily="2" charset="-52"/>
              </a:rPr>
            </a:br>
            <a:r>
              <a:rPr lang="en-US" sz="2000" dirty="0" smtClean="0">
                <a:effectLst/>
                <a:latin typeface="Montserrat ExtraBold" panose="00000900000000000000" pitchFamily="2" charset="-52"/>
              </a:rPr>
              <a:t>Hope</a:t>
            </a:r>
            <a:endParaRPr lang="ru-RU" sz="2000" dirty="0">
              <a:latin typeface="Montserrat ExtraBold" panose="00000900000000000000" pitchFamily="2" charset="-52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9015" y="5236336"/>
            <a:ext cx="1354185" cy="1579883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93" y="5235819"/>
            <a:ext cx="1354628" cy="1580400"/>
          </a:xfrm>
          <a:prstGeom prst="rect">
            <a:avLst/>
          </a:prstGeom>
        </p:spPr>
      </p:pic>
      <p:pic>
        <p:nvPicPr>
          <p:cNvPr id="28" name="Рисунок 27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5514" y="5235819"/>
            <a:ext cx="1354628" cy="1580400"/>
          </a:xfrm>
          <a:prstGeom prst="rect">
            <a:avLst/>
          </a:prstGeom>
        </p:spPr>
      </p:pic>
      <p:pic>
        <p:nvPicPr>
          <p:cNvPr id="29" name="Рисунок 28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1772" y="5235819"/>
            <a:ext cx="1354628" cy="1580400"/>
          </a:xfrm>
          <a:prstGeom prst="rect">
            <a:avLst/>
          </a:prstGeom>
        </p:spPr>
      </p:pic>
      <p:pic>
        <p:nvPicPr>
          <p:cNvPr id="30" name="Рисунок 29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213" y="5234677"/>
            <a:ext cx="1354629" cy="158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756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4200" y="982748"/>
            <a:ext cx="3289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ah-RU" sz="3600" dirty="0" smtClean="0">
                <a:latin typeface="Montserrat SemiBold" panose="00000700000000000000" pitchFamily="2" charset="-52"/>
              </a:rPr>
              <a:t>Заключения</a:t>
            </a:r>
            <a:endParaRPr lang="ru-RU" sz="3600" dirty="0">
              <a:latin typeface="Montserrat SemiBold" panose="00000700000000000000" pitchFamily="2" charset="-52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71" b="88710" l="0" r="97581">
                        <a14:foregroundMark x1="58871" y1="57258" x2="58871" y2="57258"/>
                        <a14:foregroundMark x1="33871" y1="71774" x2="33871" y2="71774"/>
                        <a14:foregroundMark x1="28226" y1="72581" x2="28226" y2="72581"/>
                        <a14:foregroundMark x1="29032" y1="72581" x2="29032" y2="72581"/>
                        <a14:foregroundMark x1="67742" y1="52419" x2="75000" y2="59677"/>
                        <a14:foregroundMark x1="64516" y1="72581" x2="70968" y2="70968"/>
                        <a14:foregroundMark x1="63710" y1="70968" x2="63710" y2="70968"/>
                        <a14:foregroundMark x1="63710" y1="70968" x2="63710" y2="70968"/>
                        <a14:foregroundMark x1="61290" y1="72581" x2="61290" y2="72581"/>
                        <a14:foregroundMark x1="64516" y1="71774" x2="64516" y2="71774"/>
                        <a14:foregroundMark x1="73387" y1="70161" x2="73387" y2="70161"/>
                        <a14:foregroundMark x1="74194" y1="72581" x2="74194" y2="72581"/>
                        <a14:foregroundMark x1="74194" y1="72581" x2="74194" y2="72581"/>
                        <a14:foregroundMark x1="71774" y1="72581" x2="71774" y2="725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38" y="0"/>
            <a:ext cx="982749" cy="982749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360587" y="137431"/>
            <a:ext cx="100278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effectLst/>
                <a:latin typeface="Montserrat ExtraBold" panose="00000900000000000000" pitchFamily="2" charset="-52"/>
              </a:rPr>
              <a:t>Fluffy</a:t>
            </a:r>
            <a:br>
              <a:rPr lang="en-US" sz="2000" dirty="0" smtClean="0">
                <a:effectLst/>
                <a:latin typeface="Montserrat ExtraBold" panose="00000900000000000000" pitchFamily="2" charset="-52"/>
              </a:rPr>
            </a:br>
            <a:r>
              <a:rPr lang="en-US" sz="2000" dirty="0" smtClean="0">
                <a:effectLst/>
                <a:latin typeface="Montserrat ExtraBold" panose="00000900000000000000" pitchFamily="2" charset="-52"/>
              </a:rPr>
              <a:t>Hope</a:t>
            </a:r>
            <a:endParaRPr lang="ru-RU" sz="2000" dirty="0">
              <a:latin typeface="Montserrat ExtraBold" panose="00000900000000000000" pitchFamily="2" charset="-5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9212" y="2070100"/>
            <a:ext cx="9398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err="1">
                <a:latin typeface="Montserrat SemiBold" panose="00000700000000000000" pitchFamily="2" charset="-52"/>
              </a:rPr>
              <a:t>Fluffy</a:t>
            </a:r>
            <a:r>
              <a:rPr lang="ru-RU" sz="2000" dirty="0">
                <a:latin typeface="Montserrat SemiBold" panose="00000700000000000000" pitchFamily="2" charset="-52"/>
              </a:rPr>
              <a:t> </a:t>
            </a:r>
            <a:r>
              <a:rPr lang="ru-RU" sz="2000" dirty="0" err="1">
                <a:latin typeface="Montserrat SemiBold" panose="00000700000000000000" pitchFamily="2" charset="-52"/>
              </a:rPr>
              <a:t>Hope</a:t>
            </a:r>
            <a:r>
              <a:rPr lang="ru-RU" sz="2000" dirty="0">
                <a:latin typeface="Montserrat SemiBold" panose="00000700000000000000" pitchFamily="2" charset="-52"/>
              </a:rPr>
              <a:t> </a:t>
            </a:r>
            <a:r>
              <a:rPr lang="ru-RU" sz="2000" dirty="0">
                <a:latin typeface="Montserrat" panose="00000500000000000000" pitchFamily="2" charset="-52"/>
              </a:rPr>
              <a:t>— это важный цифровой ресурс, который объединяет усилия волонтеров, приютов и неравнодушных граждан для помощи бездомным животным. </a:t>
            </a:r>
            <a:endParaRPr lang="ru-RU" sz="2000" dirty="0" smtClean="0">
              <a:latin typeface="Montserrat" panose="00000500000000000000" pitchFamily="2" charset="-52"/>
            </a:endParaRPr>
          </a:p>
          <a:p>
            <a:r>
              <a:rPr lang="ru-RU" sz="2000" dirty="0" smtClean="0">
                <a:latin typeface="Montserrat" panose="00000500000000000000" pitchFamily="2" charset="-52"/>
              </a:rPr>
              <a:t>Сайт выполняет </a:t>
            </a:r>
            <a:r>
              <a:rPr lang="ru-RU" sz="2000" dirty="0">
                <a:latin typeface="Montserrat" panose="00000500000000000000" pitchFamily="2" charset="-52"/>
              </a:rPr>
              <a:t>ключевые </a:t>
            </a:r>
            <a:r>
              <a:rPr lang="ru-RU" sz="2000" dirty="0" smtClean="0">
                <a:latin typeface="Montserrat" panose="00000500000000000000" pitchFamily="2" charset="-52"/>
              </a:rPr>
              <a:t>задачи, предоставляет </a:t>
            </a:r>
            <a:r>
              <a:rPr lang="ru-RU" sz="2000" dirty="0">
                <a:latin typeface="Montserrat" panose="00000500000000000000" pitchFamily="2" charset="-52"/>
              </a:rPr>
              <a:t>информацию о животных, нуждающихся в доме, организует сбор пожертвований и просвещает пользователей. </a:t>
            </a:r>
            <a:endParaRPr lang="ru-RU" sz="2000" dirty="0" smtClean="0">
              <a:latin typeface="Montserrat" panose="00000500000000000000" pitchFamily="2" charset="-52"/>
            </a:endParaRPr>
          </a:p>
          <a:p>
            <a:r>
              <a:rPr lang="ru-RU" sz="2000" dirty="0" smtClean="0">
                <a:latin typeface="Montserrat" panose="00000500000000000000" pitchFamily="2" charset="-52"/>
              </a:rPr>
              <a:t>Однако </a:t>
            </a:r>
            <a:r>
              <a:rPr lang="ru-RU" sz="2000" dirty="0">
                <a:latin typeface="Montserrat" panose="00000500000000000000" pitchFamily="2" charset="-52"/>
              </a:rPr>
              <a:t>для повышения эффективности и расширения аудитории требуются доработки в функционале, дизайне и стратегии продвижения.</a:t>
            </a:r>
          </a:p>
        </p:txBody>
      </p:sp>
    </p:spTree>
    <p:extLst>
      <p:ext uri="{BB962C8B-B14F-4D97-AF65-F5344CB8AC3E}">
        <p14:creationId xmlns:p14="http://schemas.microsoft.com/office/powerpoint/2010/main" val="2050216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390</Words>
  <Application>Microsoft Office PowerPoint</Application>
  <PresentationFormat>Широкоэкранный</PresentationFormat>
  <Paragraphs>77</Paragraphs>
  <Slides>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Montserrat</vt:lpstr>
      <vt:lpstr>Montserrat ExtraBold</vt:lpstr>
      <vt:lpstr>Montserrat SemiBold</vt:lpstr>
      <vt:lpstr>Onest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yan</dc:creator>
  <cp:lastModifiedBy>yan</cp:lastModifiedBy>
  <cp:revision>14</cp:revision>
  <dcterms:created xsi:type="dcterms:W3CDTF">2025-04-14T09:02:22Z</dcterms:created>
  <dcterms:modified xsi:type="dcterms:W3CDTF">2025-04-14T12:01:29Z</dcterms:modified>
</cp:coreProperties>
</file>